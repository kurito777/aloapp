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Instructivo CAPSTONE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46104 · Portafolio de Título · Ingeniería en Informática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463040" cy="36576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curso para estudiantes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Gerardo Galán Cruz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Nacional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asignatura CAPSTONE?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ect">
            <a:avLst>
              <a:gd name="adj" fmla="val 1649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procedimiento de evaluación final del Portafolio de Título: a partir de evidencias de las competencias clave, permite —junto a los demás requisitos de la malla— obtener el título de Ingeniero en Informática.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desarrolla mediante un proceso de reflexión crítica sobre esas evidencias, identificando fortalezas y debilidades, e implementando un plan de mejora que fortalece la identidad profesional del estudiante.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créditos · 10 trabajo docente + 10 trabajo autónomo · Último semestre de la carrera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ASIGNATURA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capstone_ppt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559" y="223387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2075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Evidenciar el logro de las competencias para efectos de la titulación.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capstone_ppt/icon_comment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36511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34930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Reflexionar sobre el logro de competencias clave a través de evidencias internas y externas.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capstone_ppt/icon_bul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50685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4910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identidad profesional mediante el análisis de capacidades e intereses.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fases, un solo proyecto (APT)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1417320"/>
          </a:xfrm>
          <a:prstGeom prst="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36118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capstone_ppt/icon_bullsey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323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108960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el Proyecto APT y sus características principales.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5806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nota semestral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16552" y="1691640"/>
            <a:ext cx="3611880" cy="429768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16552" y="1691640"/>
            <a:ext cx="3611880" cy="1417320"/>
          </a:xfrm>
          <a:prstGeom prst="rect">
            <a:avLst>
              <a:gd name="adj" fmla="val 5161"/>
            </a:avLst>
          </a:prstGeom>
          <a:solidFill>
            <a:srgbClr val="3D5AF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16552" y="2377440"/>
            <a:ext cx="3611880" cy="73152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7" name="Shape 14"/>
          <p:cNvSpPr/>
          <p:nvPr/>
        </p:nvSpPr>
        <p:spPr>
          <a:xfrm>
            <a:off x="4736592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capstone_ppt/icon_cogs_3D5A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213238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76872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690872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Proyecto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690872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(20%) e Informe final (30%) con el proyecto desarrollado.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690872" y="5349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690872" y="5806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nota semestral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284464" y="1691640"/>
            <a:ext cx="3611880" cy="429768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25" name="Shape 21"/>
          <p:cNvSpPr/>
          <p:nvPr/>
        </p:nvSpPr>
        <p:spPr>
          <a:xfrm>
            <a:off x="8284464" y="1691640"/>
            <a:ext cx="3611880" cy="1417320"/>
          </a:xfrm>
          <a:prstGeom prst="rect">
            <a:avLst>
              <a:gd name="adj" fmla="val 5161"/>
            </a:avLst>
          </a:prstGeom>
          <a:solidFill>
            <a:srgbClr val="6B2FBE"/>
          </a:solidFill>
          <a:ln/>
        </p:spPr>
      </p:sp>
      <p:sp>
        <p:nvSpPr>
          <p:cNvPr id="26" name="Shape 22"/>
          <p:cNvSpPr/>
          <p:nvPr/>
        </p:nvSpPr>
        <p:spPr>
          <a:xfrm>
            <a:off x="8284464" y="2377440"/>
            <a:ext cx="3611880" cy="731520"/>
          </a:xfrm>
          <a:prstGeom prst="rect">
            <a:avLst/>
          </a:prstGeom>
          <a:solidFill>
            <a:srgbClr val="6B2FBE"/>
          </a:solidFill>
          <a:ln/>
        </p:spPr>
      </p:sp>
      <p:sp>
        <p:nvSpPr>
          <p:cNvPr id="27" name="Shape 23"/>
          <p:cNvSpPr/>
          <p:nvPr/>
        </p:nvSpPr>
        <p:spPr>
          <a:xfrm>
            <a:off x="8604504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/home/claude/capstone_ppt/icon_flag_6B2F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5" y="2132381"/>
            <a:ext cx="307238" cy="30723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844784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8558784" y="3246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Comisión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8558784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final del proyecto ante una comisión calificadora.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558784" y="5349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8558784" y="5806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nota semestral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que evidencia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4297680"/>
          </a:xfrm>
          <a:prstGeom prst="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capstone_ppt/icon_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414" y="2211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20040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certificación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4023360"/>
            <a:ext cx="1819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productos y procesos, usando buenas prácticas de la industria.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71216" y="1737360"/>
            <a:ext cx="2148840" cy="4297680"/>
          </a:xfrm>
          <a:prstGeom prst="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capstone_ppt/icon_projec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90" y="22119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71216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035808" y="320040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035808" y="4023360"/>
            <a:ext cx="1819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para la toma de decisiones según requerimientos de la organización.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93792" y="1737360"/>
            <a:ext cx="2148840" cy="4297680"/>
          </a:xfrm>
          <a:prstGeom prst="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71032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capstone_ppt/icon_d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66" y="22119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358384" y="320040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358384" y="4023360"/>
            <a:ext cx="1819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modelos escalables que soportan los requerimientos.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516368" y="1737360"/>
            <a:ext cx="2148840" cy="4297680"/>
          </a:xfrm>
          <a:prstGeom prst="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93608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capstone_ppt/icon_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142" y="221193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16368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680960" y="320040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680960" y="4023360"/>
            <a:ext cx="1819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que sistematizan el desarrollo y mantenimiento de la solución.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838944" y="1737360"/>
            <a:ext cx="2148840" cy="4297680"/>
          </a:xfrm>
          <a:prstGeom prst="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616184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capstone_ppt/icon_comment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0718" y="221193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38944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0003536" y="320040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 socio-laboral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0003536" y="4023360"/>
            <a:ext cx="1819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oral y escrita a nivel elemental, según tabla TOEIC/CEFR.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para el proyecto y 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5" name="Image 0" descr="/home/claude/capstone_ppt/icon_check_3D5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1848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tecnológica creativa que aborde el problema de forma original y efectiva.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8" name="Image 1" descr="/home/claude/capstone_ppt/icon_check_3D5A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105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1848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completa: no puede basarse en un solo módulo o parte de un sistema.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1" name="Image 2" descr="/home/claude/capstone_ppt/icon_check_3D5A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9184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099816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integrar contenidos de la malla de manera transversal en las líneas de especialidad.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0" y="3172968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4" name="Image 3" descr="/home/claude/capstone_ppt/icon_check_3D5AF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29184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3099816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abordable en el semestre, con participación significativa de todos los integrantes.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654296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7" name="Image 4" descr="/home/claude/capstone_ppt/icon_check_3D5A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77316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58114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desarrollo en un sistema de versiones, mostrando el aporte de cada integrante.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400800" y="4654296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0" name="Image 5" descr="/home/claude/capstone_ppt/icon_check_3D5A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773168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40880" y="458114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hasta 3 integrantes; no se permite trabajo individual (salvo desvinculación autorizada).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APRENDIZAJE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espera lograr en cada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26378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la propuesta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57200" cy="27432"/>
          </a:xfrm>
          <a:prstGeom prst="rect">
            <a:avLst/>
          </a:prstGeom>
          <a:solidFill>
            <a:srgbClr val="8FA5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intereses profesionales, factibilidad, objetivos, metodología y plan de trabajo del Proyecto APT.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263785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36592" y="2560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el proyecto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36592" y="3246120"/>
            <a:ext cx="457200" cy="27432"/>
          </a:xfrm>
          <a:prstGeom prst="rect">
            <a:avLst/>
          </a:prstGeom>
          <a:solidFill>
            <a:srgbClr val="8FA5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estándares de calidad de la disciplina, con evidencia en informes de avance y final.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263785"/>
          </a:solidFill>
          <a:ln/>
        </p:spPr>
      </p:sp>
      <p:sp>
        <p:nvSpPr>
          <p:cNvPr id="15" name="Text 13"/>
          <p:cNvSpPr/>
          <p:nvPr/>
        </p:nvSpPr>
        <p:spPr>
          <a:xfrm>
            <a:off x="8604504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04504" y="2560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el proyecto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04504" y="3246120"/>
            <a:ext cx="457200" cy="27432"/>
          </a:xfrm>
          <a:prstGeom prst="rect">
            <a:avLst/>
          </a:prstGeom>
          <a:solidFill>
            <a:srgbClr val="8FA5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04504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 relevancia, objetivos, metodología, desarrollo y evidencias del logro del perfil de egreso.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evaluaciones sumativas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92640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77440"/>
            <a:ext cx="109728" cy="8686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Proyecto APT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–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0" y="2377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con presentación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46120"/>
            <a:ext cx="109728" cy="8686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2461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2461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 – 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3246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3246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sin presentación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109728" cy="8686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14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4114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4114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 – 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4114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92640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con presentación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06424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983480"/>
            <a:ext cx="109728" cy="8686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983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4983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comisión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4983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16 – 18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38160" y="4983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92640" y="4983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 con presentación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 (50%)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entrega en cada informe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ect">
            <a:avLst>
              <a:gd name="adj" fmla="val 1633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capstone_ppt/icon_f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006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14400" y="287121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avance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37413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ajustados (si corresponde)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387705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703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ajustada (si corresponde)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37997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206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avance del desarrollo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1691640"/>
            <a:ext cx="5440680" cy="4480560"/>
          </a:xfrm>
          <a:prstGeom prst="rect">
            <a:avLst>
              <a:gd name="adj" fmla="val 1633"/>
            </a:avLst>
          </a:prstGeom>
          <a:solidFill>
            <a:srgbClr val="F7F8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/home/claude/capstone_ppt/icon_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12049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19933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05156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629400" y="287121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del proyecto APT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29400" y="337413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200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y específicos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29400" y="387705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3703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su pertinencia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29400" y="437997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206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Desarrollo, dificultades y ajustes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629400" y="488289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4709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 intereses profesionales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semana 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38100">
            <a:solidFill>
              <a:srgbClr val="C4C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57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45720" y="2221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 inicio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-91440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Conformación de equipos y definición preliminar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16352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75688" y="4142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29968" y="4434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Proyecto APT · Sumativa 20%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97096" y="2221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desarrollo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51376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reflexión e informe de avance formativo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59168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8504" y="4142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sumativo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72784" y="4434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· Sumativa 20%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80576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S12–15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39912" y="2221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94192" y="2514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cierre del Proyecto APT · Sumativa 30%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301984" y="3392424"/>
            <a:ext cx="256032" cy="256032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S16–18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61320" y="4142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0" y="4434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presentación a comisión · Sumativa 30%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Conformación de equipos y elección de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CONFORMACIÓN DE EQUIPOS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6" name="Image 0" descr="/home/claude/capstone_ppt/icon_layers_3D5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2795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305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Idealmente proveniente de la asignatura Proceso de Portafolio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9" name="Image 1" descr="/home/claude/capstone_ppt/icon_users_3D5A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3311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182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2 a 3 integrantes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2" name="Image 2" descr="/home/claude/capstone_ppt/icon_bullseye_3D5A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3827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2336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Motivaciones afines: proyecto vinculado a intereses profesionales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06440" y="1737360"/>
            <a:ext cx="18288" cy="4297680"/>
          </a:xfrm>
          <a:prstGeom prst="rect">
            <a:avLst/>
          </a:prstGeom>
          <a:solidFill>
            <a:srgbClr val="E3E7F5"/>
          </a:solidFill>
          <a:ln/>
        </p:spPr>
      </p:sp>
      <p:sp>
        <p:nvSpPr>
          <p:cNvPr id="15" name="Text 10"/>
          <p:cNvSpPr/>
          <p:nvPr/>
        </p:nvSpPr>
        <p:spPr>
          <a:xfrm>
            <a:off x="6172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PARA DEFINIR EL PROYECTO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6172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81228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principal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812280" y="2450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una propuesta de Proyecto APT del último semestre de APP (APP final), con ajustes si se requiere.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6172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81228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secundaria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812280" y="3593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 nuevo Proyecto APT.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7220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61722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81228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terciaria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812280" y="4736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un proyecto propuesto por la Escuela (casos especiales, autorizado por Dirección de Carrera).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DESARROLLO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requisitos y buenas prácticas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6" name="Image 0" descr="/home/claude/capstone_ppt/icon_githu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y accesible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417320" y="2587752"/>
            <a:ext cx="73152" cy="73152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24231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desde el inicio y durante todo el semestre — un repo privado no puede revisarse.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417320" y="3246120"/>
            <a:ext cx="73152" cy="73152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30815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enlace correcto al/la docente: github.com/usuario/proyecto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17320" y="3904488"/>
            <a:ext cx="73152" cy="73152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373989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varios repositorios (frontend, backend, etc.), entregar todos los enlaces.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17320" y="4562856"/>
            <a:ext cx="73152" cy="73152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15" name="Text 12"/>
          <p:cNvSpPr/>
          <p:nvPr/>
        </p:nvSpPr>
        <p:spPr>
          <a:xfrm>
            <a:off x="1645920" y="43982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hasta la semana 18, cuando se realiza la extracción final del proyecto.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1737360"/>
            <a:ext cx="4937760" cy="4572000"/>
          </a:xfrm>
          <a:prstGeom prst="rect">
            <a:avLst>
              <a:gd name="adj" fmla="val 1600"/>
            </a:avLst>
          </a:prstGeom>
          <a:solidFill>
            <a:srgbClr val="263785"/>
          </a:solidFill>
          <a:ln/>
        </p:spPr>
      </p:sp>
      <p:sp>
        <p:nvSpPr>
          <p:cNvPr id="17" name="Shape 14"/>
          <p:cNvSpPr/>
          <p:nvPr/>
        </p:nvSpPr>
        <p:spPr>
          <a:xfrm>
            <a:off x="69951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capstone_ppt/icon_file_8FA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06" y="215432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266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obligatorio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949440" y="284378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21" name="Text 17"/>
          <p:cNvSpPr/>
          <p:nvPr/>
        </p:nvSpPr>
        <p:spPr>
          <a:xfrm>
            <a:off x="7223760" y="2734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descripción del proyecto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949440" y="339242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23" name="Text 19"/>
          <p:cNvSpPr/>
          <p:nvPr/>
        </p:nvSpPr>
        <p:spPr>
          <a:xfrm>
            <a:off x="7223760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949440" y="394106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25" name="Text 21"/>
          <p:cNvSpPr/>
          <p:nvPr/>
        </p:nvSpPr>
        <p:spPr>
          <a:xfrm>
            <a:off x="7223760" y="3831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ejecución local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448970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27" name="Text 23"/>
          <p:cNvSpPr/>
          <p:nvPr/>
        </p:nvSpPr>
        <p:spPr>
          <a:xfrm>
            <a:off x="7223760" y="4379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 y sus roles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949440" y="503834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29" name="Text 25"/>
          <p:cNvSpPr/>
          <p:nvPr/>
        </p:nvSpPr>
        <p:spPr>
          <a:xfrm>
            <a:off x="7223760" y="4928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 del equipo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949440" y="5586984"/>
            <a:ext cx="146304" cy="146304"/>
          </a:xfrm>
          <a:prstGeom prst="ellipse">
            <a:avLst/>
          </a:prstGeom>
          <a:solidFill>
            <a:srgbClr val="8FA5FF"/>
          </a:solidFill>
          <a:ln/>
        </p:spPr>
      </p:sp>
      <p:sp>
        <p:nvSpPr>
          <p:cNvPr id="31" name="Text 27"/>
          <p:cNvSpPr/>
          <p:nvPr/>
        </p:nvSpPr>
        <p:spPr>
          <a:xfrm>
            <a:off x="7223760" y="5477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 por enfoque de trabajo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160520"/>
          </a:xfrm>
          <a:prstGeom prst="rect">
            <a:avLst>
              <a:gd name="adj" fmla="val 175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914400"/>
          </a:xfrm>
          <a:prstGeom prst="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440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capstone_ppt/icon_sitemap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202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Tradicional (Cascada)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9535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Requerimientos (SRS simplificado)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70332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630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Diseño (arquitectura, modelo de datos, UML)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379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+ Evidencias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520293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5129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 / Despliegue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5440680" cy="4160520"/>
          </a:xfrm>
          <a:prstGeom prst="rect">
            <a:avLst>
              <a:gd name="adj" fmla="val 1758"/>
            </a:avLst>
          </a:prstGeom>
          <a:solidFill>
            <a:srgbClr val="F7F8FC"/>
          </a:solidFill>
          <a:ln/>
        </p:spPr>
      </p:sp>
      <p:sp>
        <p:nvSpPr>
          <p:cNvPr id="19" name="Shape 16"/>
          <p:cNvSpPr/>
          <p:nvPr/>
        </p:nvSpPr>
        <p:spPr>
          <a:xfrm>
            <a:off x="6263640" y="1691640"/>
            <a:ext cx="5440680" cy="914400"/>
          </a:xfrm>
          <a:prstGeom prst="rect">
            <a:avLst>
              <a:gd name="adj" fmla="val 8000"/>
            </a:avLst>
          </a:prstGeom>
          <a:solidFill>
            <a:srgbClr val="3D5AFE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2148840"/>
            <a:ext cx="5440680" cy="4572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21" name="Shape 18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/home/claude/capstone_ppt/icon_layers_3D5A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2050999"/>
            <a:ext cx="241402" cy="2414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19202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Ágil (Scrum, Kanban)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583680" y="2953512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+ Product Backlog priorizado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3703320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3630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por sprint + Definition of Done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4453128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379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diseño + evidencia de retrospectivas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83680" y="5202936"/>
            <a:ext cx="82296" cy="8229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1" name="Text 27"/>
          <p:cNvSpPr/>
          <p:nvPr/>
        </p:nvSpPr>
        <p:spPr>
          <a:xfrm>
            <a:off x="6812280" y="5129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(por sprint) + Manual técnico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 LA 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obligatorios comunes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capstone_ppt/icon_site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Diagrama, componentes y comunicación entre servicios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4136" y="173736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capstone_ppt/icon_d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95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7016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(SQL) o documental (MongoDB)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99632" y="173736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capstone_ppt/icon_projec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91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82512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clases, secuencia y componentes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25128" y="173736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53728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capstone_ppt/icon_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487" y="2096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08008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rendimiento, escalabilidad, disponibilidad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capstone_ppt/icon_docke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3369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docker-compose, variables de entorno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74136" y="397764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02736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capstone_ppt/icon_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495" y="43369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57016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integración, rendimiento y seguridad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99632" y="3977640"/>
            <a:ext cx="26517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28232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capstone_ppt/icon_bulb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991" y="433699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82512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82512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resuelve, diferenciación y valor agregado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C5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e ítems en inglés por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(Abstract) del proyecto, escrito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Reflexión, escrito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0872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(Abstract) del proyecto, escrito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90872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0872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Reflexión, escrito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84464" y="1737360"/>
            <a:ext cx="3611880" cy="4206240"/>
          </a:xfrm>
          <a:prstGeom prst="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58784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58784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(Abstract) del proyecto, escrito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58784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58784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4" name="Image 0" descr="/home/claude/capstone_ppt/icon_gr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¡Éxito en su Proyecto APT!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repositorio público desde el día uno, evidencia continua de trabajo en equipo y foco en una solución innovadora e integral.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703320"/>
            <a:ext cx="1097280" cy="27432"/>
          </a:xfrm>
          <a:prstGeom prst="rect">
            <a:avLst/>
          </a:prstGeom>
          <a:solidFill>
            <a:srgbClr val="8FA5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OBLIGATORIA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297680"/>
            <a:ext cx="365760" cy="36576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10" name="Image 1" descr="/home/claude/capstone_ppt/icon_book_8FA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439277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Pantaleo, G. (2015). Ingeniería de software. Alfaomega.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13" name="Image 2" descr="/home/claude/capstone_ppt/icon_book_8FA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941418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(2011). Ingeniería de Software (9ª ed.). Pearson.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5394960"/>
            <a:ext cx="365760" cy="365760"/>
          </a:xfrm>
          <a:prstGeom prst="ellipse">
            <a:avLst/>
          </a:prstGeom>
          <a:solidFill>
            <a:srgbClr val="263785"/>
          </a:solidFill>
          <a:ln/>
        </p:spPr>
      </p:sp>
      <p:pic>
        <p:nvPicPr>
          <p:cNvPr id="16" name="Image 3" descr="/home/claude/capstone_ppt/icon_book_8FA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5490058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5394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 (2017). Guía del PMBOK (6ª ed.). PMI.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Instructivo CAPSTONE 46104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2026-08-11T18:51:33Z</dcterms:created>
  <dcterms:modified xsi:type="dcterms:W3CDTF">2026-08-11T18:51:33Z</dcterms:modified>
</cp:coreProperties>
</file>